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68" r:id="rId7"/>
    <p:sldId id="258" r:id="rId8"/>
    <p:sldId id="259" r:id="rId9"/>
    <p:sldId id="260" r:id="rId10"/>
    <p:sldId id="261" r:id="rId11"/>
    <p:sldId id="263" r:id="rId12"/>
    <p:sldId id="269" r:id="rId13"/>
  </p:sldIdLst>
  <p:sldSz cx="14630400" cy="8229600"/>
  <p:notesSz cx="8229600" cy="14630400"/>
  <p:embeddedFontLst>
    <p:embeddedFont>
      <p:font typeface="Dela Gothic One" panose="00000500000000000000" pitchFamily="34" charset="-128"/>
      <p:regular r:id="rId17"/>
    </p:embeddedFont>
    <p:embeddedFont>
      <p:font typeface="Dela Gothic One" panose="00000500000000000000" pitchFamily="34" charset="-122"/>
      <p:regular r:id="rId18"/>
    </p:embeddedFont>
    <p:embeddedFont>
      <p:font typeface="Dela Gothic One" panose="00000500000000000000" pitchFamily="34" charset="-120"/>
      <p:regular r:id="rId19"/>
    </p:embeddedFont>
    <p:embeddedFont>
      <p:font typeface="DM Sans" pitchFamily="34" charset="0"/>
      <p:bold r:id="rId20"/>
    </p:embeddedFont>
    <p:embeddedFont>
      <p:font typeface="DM Sans" pitchFamily="34" charset="-122"/>
      <p:bold r:id="rId21"/>
    </p:embeddedFont>
    <p:embeddedFont>
      <p:font typeface="DM Sans" pitchFamily="34" charset="-120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  <p:embeddedFont>
      <p:font typeface="Franklin Gothic Heavy" panose="020B0903020102020204" charset="0"/>
      <p:regular r:id="rId27"/>
      <p: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A09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5773" y="549473"/>
            <a:ext cx="7745254" cy="1972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Face Recognition Attendance System (FRAS)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185773" y="2821186"/>
            <a:ext cx="7745254" cy="127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Welcome to my presentation on Face Recognition Attendance System (FRAS), a cutting-edge technology revolutionizing how organizations track attendance. This advanced system uses facial recognition to automate and enhance traditional attendance tracking methods.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185773" y="4324231"/>
            <a:ext cx="7745254" cy="15978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While traditional methods rely on manual sign-ins, paper logs, or magnetic cards, FRAS offers a contactless, efficient alternative that has evolved significantly since early facial recognition technology emerged in the 1960s. Today's systems leverage sophisticated artificial intelligence and machine learning algorithms for remarkable accuracy.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185773" y="6146840"/>
            <a:ext cx="7745254" cy="9586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FRAS market is experiencing explosive growth, with projections indicating it will reach $8.5 billion by 2028 as more organizations recognize its transformative potential.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185614" y="7330321"/>
            <a:ext cx="1071205" cy="349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9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by Priyansh Verma</a:t>
            </a:r>
            <a:endParaRPr lang="en-US" sz="1950" dirty="0"/>
          </a:p>
        </p:txBody>
      </p:sp>
      <p:sp>
        <p:nvSpPr>
          <p:cNvPr id="10" name="Rectangles 9"/>
          <p:cNvSpPr/>
          <p:nvPr/>
        </p:nvSpPr>
        <p:spPr>
          <a:xfrm>
            <a:off x="12436475" y="7330440"/>
            <a:ext cx="2186305" cy="8991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0702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596" y="2765941"/>
            <a:ext cx="9340810" cy="544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How FRAS Works: Core Components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96" y="3559135"/>
            <a:ext cx="828080" cy="9936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56040" y="3724751"/>
            <a:ext cx="2179201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Cameras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656040" y="4096345"/>
            <a:ext cx="12394763" cy="264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altLang="en-US" sz="1300" dirty="0">
                <a:solidFill>
                  <a:schemeClr val="bg1"/>
                </a:solidFill>
              </a:rPr>
              <a:t>High-resolution webcam strategically positioned to capture facial images with optimal clarity, enhanced by histogram equalization for varying lighting conditions.</a:t>
            </a:r>
            <a:endParaRPr lang="en-US" altLang="en-US" sz="1300" dirty="0">
              <a:solidFill>
                <a:schemeClr val="bg1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96" y="4552831"/>
            <a:ext cx="828080" cy="9936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56040" y="4718447"/>
            <a:ext cx="3887629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Facial Recognition Algorithms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656040" y="5090041"/>
            <a:ext cx="12394763" cy="264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altLang="en-US" sz="1300" dirty="0">
                <a:solidFill>
                  <a:schemeClr val="bg1"/>
                </a:solidFill>
              </a:rPr>
              <a:t>Advanced face recognition models using face_recognition and mediapipe, analyzing facial features and matching them against stored encodings with a threshold of &lt;0.5 for accuracy.</a:t>
            </a:r>
            <a:endParaRPr lang="en-US" altLang="en-US" sz="1300" dirty="0">
              <a:solidFill>
                <a:schemeClr val="bg1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96" y="5546527"/>
            <a:ext cx="828080" cy="9936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56040" y="5712143"/>
            <a:ext cx="2179201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Databases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656040" y="6083737"/>
            <a:ext cx="12394763" cy="264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altLang="en-US" sz="1300" dirty="0">
                <a:solidFill>
                  <a:schemeClr val="bg1"/>
                </a:solidFill>
              </a:rPr>
              <a:t>Secure repositories storing face encodings in encodings.pkl and attendance records in attendance.csv, ensuring data integrity and privacy</a:t>
            </a:r>
            <a:endParaRPr lang="en-US" altLang="en-US" sz="1300" dirty="0">
              <a:solidFill>
                <a:schemeClr val="bg1"/>
              </a:solidFill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96" y="6540222"/>
            <a:ext cx="828080" cy="9936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56040" y="6705838"/>
            <a:ext cx="2179201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Processing Unit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656040" y="7077432"/>
            <a:ext cx="12394763" cy="264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Powerful computing systems that handle real-time recognition tasks with speed and precision, like Haar cascade classifiers achieving 95% accuracy.</a:t>
            </a:r>
            <a:endParaRPr lang="en-US" sz="1300" dirty="0"/>
          </a:p>
        </p:txBody>
      </p:sp>
      <p:sp>
        <p:nvSpPr>
          <p:cNvPr id="16" name="Rectangles 15"/>
          <p:cNvSpPr/>
          <p:nvPr/>
        </p:nvSpPr>
        <p:spPr>
          <a:xfrm>
            <a:off x="12436475" y="7330440"/>
            <a:ext cx="2186305" cy="8991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0902" y="691753"/>
            <a:ext cx="7597259" cy="517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altLang="en-US" sz="3250" dirty="0">
                <a:solidFill>
                  <a:schemeClr val="bg1"/>
                </a:solidFill>
                <a:latin typeface="Franklin Gothic Heavy" panose="020B0903020102020204" charset="0"/>
                <a:cs typeface="Franklin Gothic Heavy" panose="020B0903020102020204" charset="0"/>
              </a:rPr>
              <a:t>System Requirements</a:t>
            </a:r>
            <a:endParaRPr lang="en-US" altLang="en-US" sz="3250" dirty="0">
              <a:solidFill>
                <a:schemeClr val="bg1"/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27948" y="1445776"/>
            <a:ext cx="22860" cy="5159454"/>
          </a:xfrm>
          <a:prstGeom prst="roundRect">
            <a:avLst>
              <a:gd name="adj" fmla="val 289239"/>
            </a:avLst>
          </a:prstGeom>
          <a:solidFill>
            <a:srgbClr val="8D2424"/>
          </a:solidFill>
        </p:spPr>
      </p:sp>
      <p:sp>
        <p:nvSpPr>
          <p:cNvPr id="5" name="Shape 2"/>
          <p:cNvSpPr/>
          <p:nvPr/>
        </p:nvSpPr>
        <p:spPr>
          <a:xfrm>
            <a:off x="882194" y="1788438"/>
            <a:ext cx="472202" cy="22860"/>
          </a:xfrm>
          <a:prstGeom prst="roundRect">
            <a:avLst>
              <a:gd name="adj" fmla="val 289239"/>
            </a:avLst>
          </a:prstGeom>
          <a:solidFill>
            <a:srgbClr val="8D2424"/>
          </a:solidFill>
        </p:spPr>
      </p:sp>
      <p:sp>
        <p:nvSpPr>
          <p:cNvPr id="6" name="Shape 3"/>
          <p:cNvSpPr/>
          <p:nvPr/>
        </p:nvSpPr>
        <p:spPr>
          <a:xfrm>
            <a:off x="550843" y="1622822"/>
            <a:ext cx="354211" cy="35421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647" y="1644551"/>
            <a:ext cx="248483" cy="310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15070" y="1603177"/>
            <a:ext cx="2071330" cy="2589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Franklin Gothic Heavy" panose="020B0903020102020204" charset="0"/>
                <a:cs typeface="Franklin Gothic Heavy" panose="020B0903020102020204" charset="0"/>
              </a:rPr>
              <a:t>Hardware Requirements:</a:t>
            </a:r>
            <a:endParaRPr lang="en-US" altLang="en-US" sz="1600" dirty="0">
              <a:solidFill>
                <a:schemeClr val="bg1"/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15070" y="1956554"/>
            <a:ext cx="7078028" cy="5036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400" dirty="0">
                <a:solidFill>
                  <a:schemeClr val="bg1"/>
                </a:solidFill>
              </a:rPr>
              <a:t>Webcam-enabled PC/laptop (for face capture and recognition).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marL="0" indent="0" algn="l">
              <a:lnSpc>
                <a:spcPts val="1950"/>
              </a:lnSpc>
              <a:buNone/>
            </a:pPr>
            <a:r>
              <a:rPr lang="en-US" altLang="en-US" sz="1400" dirty="0">
                <a:solidFill>
                  <a:schemeClr val="bg1"/>
                </a:solidFill>
              </a:rPr>
              <a:t>Minimum 4GB RAM, 1GHz processor.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882194" y="3117652"/>
            <a:ext cx="472202" cy="22860"/>
          </a:xfrm>
          <a:prstGeom prst="roundRect">
            <a:avLst>
              <a:gd name="adj" fmla="val 289239"/>
            </a:avLst>
          </a:prstGeom>
          <a:solidFill>
            <a:srgbClr val="8D2424"/>
          </a:solidFill>
        </p:spPr>
      </p:sp>
      <p:sp>
        <p:nvSpPr>
          <p:cNvPr id="11" name="Shape 8"/>
          <p:cNvSpPr/>
          <p:nvPr/>
        </p:nvSpPr>
        <p:spPr>
          <a:xfrm>
            <a:off x="550843" y="2952036"/>
            <a:ext cx="354211" cy="35421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647" y="2973765"/>
            <a:ext cx="248483" cy="310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515070" y="2932390"/>
            <a:ext cx="2077760" cy="2589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Franklin Gothic Heavy" panose="020B0903020102020204" charset="0"/>
                <a:cs typeface="Franklin Gothic Heavy" panose="020B0903020102020204" charset="0"/>
              </a:rPr>
              <a:t>Software Requirements:</a:t>
            </a:r>
            <a:endParaRPr lang="en-US" altLang="en-US" sz="1600" dirty="0">
              <a:solidFill>
                <a:schemeClr val="bg1"/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15070" y="3285768"/>
            <a:ext cx="7078028" cy="5036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400" dirty="0">
                <a:solidFill>
                  <a:schemeClr val="bg1"/>
                </a:solidFill>
              </a:rPr>
              <a:t>customtkinter (GUI), face_recognition (face detection), opencv-python (camera handling).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marL="0" indent="0" algn="l">
              <a:lnSpc>
                <a:spcPts val="1950"/>
              </a:lnSpc>
              <a:buNone/>
            </a:pPr>
            <a:r>
              <a:rPr lang="en-US" altLang="en-US" sz="1400" dirty="0">
                <a:solidFill>
                  <a:schemeClr val="bg1"/>
                </a:solidFill>
              </a:rPr>
              <a:t>mediapipe (face detection), PIL (image processing), pickle (data storage), csv (attendance logs).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82194" y="4446865"/>
            <a:ext cx="472202" cy="22860"/>
          </a:xfrm>
          <a:prstGeom prst="roundRect">
            <a:avLst>
              <a:gd name="adj" fmla="val 289239"/>
            </a:avLst>
          </a:prstGeom>
          <a:solidFill>
            <a:srgbClr val="8D2424"/>
          </a:solidFill>
        </p:spPr>
      </p:sp>
      <p:sp>
        <p:nvSpPr>
          <p:cNvPr id="16" name="Shape 13"/>
          <p:cNvSpPr/>
          <p:nvPr/>
        </p:nvSpPr>
        <p:spPr>
          <a:xfrm>
            <a:off x="550843" y="4281249"/>
            <a:ext cx="354211" cy="35421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647" y="4302978"/>
            <a:ext cx="248483" cy="310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515070" y="4261604"/>
            <a:ext cx="2783800" cy="2589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Franklin Gothic Heavy" panose="020B0903020102020204" charset="0"/>
                <a:cs typeface="Franklin Gothic Heavy" panose="020B0903020102020204" charset="0"/>
              </a:rPr>
              <a:t>Development Tools</a:t>
            </a:r>
            <a:endParaRPr lang="en-US" altLang="en-US" sz="1600" dirty="0">
              <a:solidFill>
                <a:schemeClr val="bg1"/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515070" y="4614982"/>
            <a:ext cx="7078028" cy="5036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400" dirty="0">
                <a:solidFill>
                  <a:schemeClr val="bg1"/>
                </a:solidFill>
              </a:rPr>
              <a:t>VS Code or any Python IDE.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82194" y="5776079"/>
            <a:ext cx="472202" cy="22860"/>
          </a:xfrm>
          <a:prstGeom prst="roundRect">
            <a:avLst>
              <a:gd name="adj" fmla="val 289239"/>
            </a:avLst>
          </a:prstGeom>
          <a:solidFill>
            <a:srgbClr val="8D2424"/>
          </a:solidFill>
        </p:spPr>
      </p:sp>
      <p:sp>
        <p:nvSpPr>
          <p:cNvPr id="21" name="Shape 18"/>
          <p:cNvSpPr/>
          <p:nvPr/>
        </p:nvSpPr>
        <p:spPr>
          <a:xfrm>
            <a:off x="550843" y="5610463"/>
            <a:ext cx="354211" cy="35421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647" y="5632192"/>
            <a:ext cx="248483" cy="310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515070" y="5590818"/>
            <a:ext cx="2071330" cy="2589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Franklin Gothic Heavy" panose="020B0903020102020204" charset="0"/>
                <a:cs typeface="Franklin Gothic Heavy" panose="020B0903020102020204" charset="0"/>
              </a:rPr>
              <a:t>Dataset</a:t>
            </a:r>
            <a:endParaRPr lang="en-US" altLang="en-US" sz="1600" dirty="0">
              <a:solidFill>
                <a:schemeClr val="bg1"/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15070" y="5944195"/>
            <a:ext cx="7078028" cy="5036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400" dirty="0">
                <a:solidFill>
                  <a:schemeClr val="bg1"/>
                </a:solidFill>
              </a:rPr>
              <a:t>Custom dataset of student face images stored locally.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551180" y="6782435"/>
            <a:ext cx="13527405" cy="755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facial recognition algorithms continue to evolve, we can expect even greater accuracy rates and resistance to spoofing attempts. The technology will likely become more accessible to smaller organizations through cloud-based solutions and subscription models.</a:t>
            </a:r>
            <a:endParaRPr lang="en-US" sz="1200" dirty="0"/>
          </a:p>
        </p:txBody>
      </p:sp>
      <p:sp>
        <p:nvSpPr>
          <p:cNvPr id="26" name="Rectangles 25"/>
          <p:cNvSpPr/>
          <p:nvPr/>
        </p:nvSpPr>
        <p:spPr>
          <a:xfrm>
            <a:off x="12436475" y="7330440"/>
            <a:ext cx="2186305" cy="8991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9013" y="842963"/>
            <a:ext cx="7785973" cy="1276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Benefits of Implementing FRAS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78815" y="2410460"/>
            <a:ext cx="3796030" cy="3071495"/>
          </a:xfrm>
          <a:prstGeom prst="roundRect">
            <a:avLst>
              <a:gd name="adj" fmla="val 270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0586" y="2611874"/>
            <a:ext cx="2552938" cy="319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Accuracy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80586" y="3047286"/>
            <a:ext cx="3392924" cy="2173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altLang="en-US" dirty="0">
                <a:solidFill>
                  <a:schemeClr val="bg1"/>
                </a:solidFill>
              </a:rPr>
              <a:t>FRAS significantly reduces human errors in attendance tracking, ensuring reliable and precise records that reflect actual presence. Automatic verification eliminates manual recording mistakes common in traditional systems.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669155" y="2410460"/>
            <a:ext cx="3796030" cy="3078480"/>
          </a:xfrm>
          <a:prstGeom prst="roundRect">
            <a:avLst>
              <a:gd name="adj" fmla="val 270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70609" y="2611874"/>
            <a:ext cx="2552938" cy="319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Efficiency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870609" y="3047286"/>
            <a:ext cx="3392924" cy="2173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altLang="en-US" sz="2000" dirty="0">
                <a:solidFill>
                  <a:schemeClr val="bg1"/>
                </a:solidFill>
              </a:rPr>
              <a:t>The system dramatically speeds up the attendance process, eliminating queues and saving valuable time. Students can be verified in less than a second, allowing them to proceed directly to their workstations.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678815" y="5789295"/>
            <a:ext cx="7785735" cy="2000885"/>
          </a:xfrm>
          <a:prstGeom prst="roundRect">
            <a:avLst>
              <a:gd name="adj" fmla="val 4604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0586" y="5817989"/>
            <a:ext cx="2940725" cy="319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Cost-effectiveness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80586" y="6253401"/>
            <a:ext cx="7382828" cy="9315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altLang="en-US" dirty="0">
                <a:solidFill>
                  <a:schemeClr val="bg1"/>
                </a:solidFill>
              </a:rPr>
              <a:t>Despite initial investment, FRAS reduces long-term administrative overhead by eliminating physical cards, time clocks, and manual record-keeping. Educational institutions report up to 15% reduction in attendance-related errors, translating to significant savings.</a:t>
            </a:r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44" y="488513"/>
            <a:ext cx="6265188" cy="584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Implementation Steps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21744" y="1428155"/>
            <a:ext cx="1338620" cy="1038344"/>
          </a:xfrm>
          <a:prstGeom prst="roundRect">
            <a:avLst>
              <a:gd name="adj" fmla="val 718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098" y="1791176"/>
            <a:ext cx="249793" cy="3123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38005" y="1605796"/>
            <a:ext cx="2337792" cy="2922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138045" y="1990090"/>
            <a:ext cx="11781790" cy="2990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altLang="en-US" sz="1350" dirty="0">
                <a:solidFill>
                  <a:schemeClr val="bg1"/>
                </a:solidFill>
              </a:rPr>
              <a:t>Gather facial images of all students under controlled conditions using the webcam, capturing 10 images per student with histogram equalization for lighting consistency.</a:t>
            </a:r>
            <a:endParaRPr lang="en-US" altLang="en-US" sz="1350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2049185" y="2456974"/>
            <a:ext cx="11870650" cy="11430"/>
          </a:xfrm>
          <a:prstGeom prst="roundRect">
            <a:avLst>
              <a:gd name="adj" fmla="val 652866"/>
            </a:avLst>
          </a:prstGeom>
          <a:solidFill>
            <a:srgbClr val="8D2424"/>
          </a:solidFill>
        </p:spPr>
      </p:sp>
      <p:sp>
        <p:nvSpPr>
          <p:cNvPr id="8" name="Shape 5"/>
          <p:cNvSpPr/>
          <p:nvPr/>
        </p:nvSpPr>
        <p:spPr>
          <a:xfrm>
            <a:off x="621744" y="2555319"/>
            <a:ext cx="2677358" cy="1038344"/>
          </a:xfrm>
          <a:prstGeom prst="roundRect">
            <a:avLst>
              <a:gd name="adj" fmla="val 718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68" y="2918341"/>
            <a:ext cx="249793" cy="3123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6744" y="2732961"/>
            <a:ext cx="2561273" cy="2922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Training the Model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476625" y="3117215"/>
            <a:ext cx="10586720" cy="2990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altLang="en-US" sz="1350" dirty="0">
                <a:solidFill>
                  <a:schemeClr val="bg1"/>
                </a:solidFill>
              </a:rPr>
              <a:t>Develop and fine-tune face recognition algorithms using face_recognition to generate and store encodings in encodings.pkl for accurate face matching.</a:t>
            </a:r>
            <a:endParaRPr lang="en-US" altLang="en-US" sz="1350" dirty="0">
              <a:solidFill>
                <a:schemeClr val="bg1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3387923" y="3584138"/>
            <a:ext cx="10531912" cy="11430"/>
          </a:xfrm>
          <a:prstGeom prst="roundRect">
            <a:avLst>
              <a:gd name="adj" fmla="val 652866"/>
            </a:avLst>
          </a:prstGeom>
          <a:solidFill>
            <a:srgbClr val="8D2424"/>
          </a:solidFill>
        </p:spPr>
      </p:sp>
      <p:sp>
        <p:nvSpPr>
          <p:cNvPr id="13" name="Shape 9"/>
          <p:cNvSpPr/>
          <p:nvPr/>
        </p:nvSpPr>
        <p:spPr>
          <a:xfrm>
            <a:off x="621744" y="3682484"/>
            <a:ext cx="4015978" cy="1038344"/>
          </a:xfrm>
          <a:prstGeom prst="roundRect">
            <a:avLst>
              <a:gd name="adj" fmla="val 718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837" y="4045506"/>
            <a:ext cx="249793" cy="3123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15364" y="3860125"/>
            <a:ext cx="2741414" cy="2922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System Integration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815205" y="4288155"/>
            <a:ext cx="9103995" cy="2552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altLang="en-US" sz="1350" dirty="0">
                <a:solidFill>
                  <a:schemeClr val="bg1"/>
                </a:solidFill>
              </a:rPr>
              <a:t>Connect FRAS with existing classroom management systems or local attendance logs (e.g., attendance.csv) for seamless data flow.</a:t>
            </a:r>
            <a:endParaRPr lang="en-US" altLang="en-US" sz="1350" dirty="0">
              <a:solidFill>
                <a:schemeClr val="bg1"/>
              </a:solidFill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726543" y="4711303"/>
            <a:ext cx="9193292" cy="11430"/>
          </a:xfrm>
          <a:prstGeom prst="roundRect">
            <a:avLst>
              <a:gd name="adj" fmla="val 652866"/>
            </a:avLst>
          </a:prstGeom>
          <a:solidFill>
            <a:srgbClr val="8D2424"/>
          </a:solidFill>
        </p:spPr>
      </p:sp>
      <p:sp>
        <p:nvSpPr>
          <p:cNvPr id="18" name="Shape 13"/>
          <p:cNvSpPr/>
          <p:nvPr/>
        </p:nvSpPr>
        <p:spPr>
          <a:xfrm>
            <a:off x="621744" y="4809649"/>
            <a:ext cx="5354717" cy="1038344"/>
          </a:xfrm>
          <a:prstGeom prst="roundRect">
            <a:avLst>
              <a:gd name="adj" fmla="val 718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206" y="5172670"/>
            <a:ext cx="249793" cy="3123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3468" y="4890135"/>
            <a:ext cx="2337792" cy="2922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Testing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154420" y="5154295"/>
            <a:ext cx="8476615" cy="5276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altLang="en-US" sz="1350" dirty="0">
                <a:solidFill>
                  <a:schemeClr val="bg1"/>
                </a:solidFill>
              </a:rPr>
              <a:t>Ensure accuracy and reliability through comprehensive testing, verifying face recognition (&lt;0.5 threshold) and attendance</a:t>
            </a:r>
            <a:endParaRPr lang="en-US" altLang="en-US" sz="1350" dirty="0">
              <a:solidFill>
                <a:schemeClr val="bg1"/>
              </a:solidFill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altLang="en-US" sz="1350" dirty="0">
                <a:solidFill>
                  <a:schemeClr val="bg1"/>
                </a:solidFill>
              </a:rPr>
              <a:t> ogging in real-time scenarios.</a:t>
            </a:r>
            <a:endParaRPr lang="en-US" altLang="en-US" sz="1350" dirty="0">
              <a:solidFill>
                <a:schemeClr val="bg1"/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6065282" y="5838468"/>
            <a:ext cx="7854553" cy="11430"/>
          </a:xfrm>
          <a:prstGeom prst="roundRect">
            <a:avLst>
              <a:gd name="adj" fmla="val 652866"/>
            </a:avLst>
          </a:prstGeom>
          <a:solidFill>
            <a:srgbClr val="8D2424"/>
          </a:solidFill>
        </p:spPr>
      </p:sp>
      <p:sp>
        <p:nvSpPr>
          <p:cNvPr id="23" name="Shape 17"/>
          <p:cNvSpPr/>
          <p:nvPr/>
        </p:nvSpPr>
        <p:spPr>
          <a:xfrm>
            <a:off x="621744" y="5936813"/>
            <a:ext cx="6693456" cy="1038344"/>
          </a:xfrm>
          <a:prstGeom prst="roundRect">
            <a:avLst>
              <a:gd name="adj" fmla="val 718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576" y="6299835"/>
            <a:ext cx="249793" cy="31230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92841" y="6114455"/>
            <a:ext cx="2337792" cy="2922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7492841" y="6513314"/>
            <a:ext cx="4169807" cy="2842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 out the system to all users with proper training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21744" y="7174944"/>
            <a:ext cx="13386911" cy="5684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altLang="en-US" sz="1350" dirty="0">
                <a:solidFill>
                  <a:schemeClr val="bg1"/>
                </a:solidFill>
              </a:rPr>
              <a:t>A complete FRAS implementation typically takes 1-2 months, depending on the number of students and complexity. The timeline includes initial setup, system customization, user training, and fine-tuning phases.</a:t>
            </a:r>
            <a:endParaRPr lang="en-US" altLang="en-US" sz="1350" dirty="0">
              <a:solidFill>
                <a:schemeClr val="bg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2436475" y="7743825"/>
            <a:ext cx="2186305" cy="485775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61273"/>
            <a:ext cx="9392007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Use Cases and Applications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1807250"/>
            <a:ext cx="4154567" cy="2567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645700"/>
            <a:ext cx="410682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Educational Institutions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190" y="5132070"/>
            <a:ext cx="4154805" cy="2767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Schools and universities use FRAS to automate student attendance, reducing administrative burden and allowing real-time tracking of classroom presence. University Y reported annual savings of $20,000 after implementing FRAS across campus.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798" y="1807250"/>
            <a:ext cx="4154686" cy="2567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7798" y="4645700"/>
            <a:ext cx="4154686" cy="712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Corporate Environments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8115" y="5132070"/>
            <a:ext cx="4154805" cy="2472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Businesses implement FRAS for employee attendance tracking and access control, enhancing security while streamlining HR processes. The system integrates with payroll systems for automatic time tracking and reporting.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405" y="1807250"/>
            <a:ext cx="4154567" cy="25677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405" y="4645700"/>
            <a:ext cx="4053245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Specialized Workplaces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7405" y="5132070"/>
            <a:ext cx="4154805" cy="2426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Construction sites use FRAS to monitor worker presence and compliance with safety regulations. Healthcare facilities employ the technology to track staff attendance and optimize patient flow management through secured areas.</a:t>
            </a:r>
            <a:endParaRPr lang="en-US" sz="1700" dirty="0"/>
          </a:p>
        </p:txBody>
      </p:sp>
      <p:sp>
        <p:nvSpPr>
          <p:cNvPr id="12" name="Rectangles 11"/>
          <p:cNvSpPr/>
          <p:nvPr/>
        </p:nvSpPr>
        <p:spPr>
          <a:xfrm>
            <a:off x="12436475" y="7330440"/>
            <a:ext cx="2186305" cy="8991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4384" y="794861"/>
            <a:ext cx="10448330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Challenges and Considerations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678186" y="2300883"/>
            <a:ext cx="301716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Privacy Concerns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2787015"/>
            <a:ext cx="3937040" cy="1733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altLang="en-US" sz="1700" dirty="0">
                <a:solidFill>
                  <a:schemeClr val="bg1"/>
                </a:solidFill>
              </a:rPr>
              <a:t>Educational institutions must navigate regulations like GDPR and CCPA when implementing facial recognition. Proper consent protocols and transparent data policies are essential to protect student privacy.</a:t>
            </a:r>
            <a:endParaRPr lang="en-US" altLang="en-US" sz="1700" dirty="0">
              <a:solidFill>
                <a:schemeClr val="bg1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121" y="3349288"/>
            <a:ext cx="324088" cy="4051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4932" y="2300883"/>
            <a:ext cx="2887742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Technical Issues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4932" y="2787015"/>
            <a:ext cx="3937159" cy="1733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en-US" sz="1700" dirty="0">
                <a:solidFill>
                  <a:schemeClr val="bg1"/>
                </a:solidFill>
              </a:rPr>
              <a:t>Environmental factors such as poor lighting, face occlusions (e.g., masks, glasses), and system limitations can affect recognition accuracy and reliability, mitigated by histogram equalization and mediapipe detection.</a:t>
            </a:r>
            <a:endParaRPr lang="en-US" altLang="en-US" sz="1700" dirty="0">
              <a:solidFill>
                <a:schemeClr val="bg1"/>
              </a:solidFill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altLang="en-US" sz="1700" dirty="0">
              <a:solidFill>
                <a:schemeClr val="bg1"/>
              </a:solidFill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altLang="en-US" sz="170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834" y="3349288"/>
            <a:ext cx="324088" cy="4051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4932" y="5313482"/>
            <a:ext cx="3937159" cy="712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Security Vulnerabilities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5210" y="5866130"/>
            <a:ext cx="3937000" cy="1935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en-US" sz="1700" dirty="0">
                <a:solidFill>
                  <a:schemeClr val="bg1"/>
                </a:solidFill>
              </a:rPr>
              <a:t>Systems must be protected against spoofing attempts using photographs or deepfakes, requiring advanced liveness detection features (a potential future enhancement for FRAS).</a:t>
            </a:r>
            <a:endParaRPr lang="en-US" altLang="en-US" sz="1700" dirty="0">
              <a:solidFill>
                <a:schemeClr val="bg1"/>
              </a:solidFill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8834" y="5621000"/>
            <a:ext cx="324088" cy="40517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76191" y="5313799"/>
            <a:ext cx="341852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Ethical Implications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7674" y="5799931"/>
            <a:ext cx="3937040" cy="1386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altLang="en-US" sz="1700" dirty="0">
                <a:solidFill>
                  <a:schemeClr val="bg1"/>
                </a:solidFill>
              </a:rPr>
              <a:t>Developers and institutions must ensure algorithms are tested for bias across different demographics to provide fair and equitable recognition, aligning with educational equity standards.</a:t>
            </a:r>
            <a:endParaRPr lang="en-US" altLang="en-US" sz="1700" dirty="0">
              <a:solidFill>
                <a:schemeClr val="bg1"/>
              </a:solidFill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7121" y="5621000"/>
            <a:ext cx="324088" cy="405170"/>
          </a:xfrm>
          <a:prstGeom prst="rect">
            <a:avLst/>
          </a:prstGeom>
        </p:spPr>
      </p:pic>
      <p:sp>
        <p:nvSpPr>
          <p:cNvPr id="19" name="Rectangles 18"/>
          <p:cNvSpPr/>
          <p:nvPr/>
        </p:nvSpPr>
        <p:spPr>
          <a:xfrm>
            <a:off x="12436475" y="7330440"/>
            <a:ext cx="2186305" cy="8991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0902" y="691753"/>
            <a:ext cx="7597259" cy="517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Future Trends and Innovations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727948" y="1445776"/>
            <a:ext cx="22860" cy="5159454"/>
          </a:xfrm>
          <a:prstGeom prst="roundRect">
            <a:avLst>
              <a:gd name="adj" fmla="val 289239"/>
            </a:avLst>
          </a:prstGeom>
          <a:solidFill>
            <a:srgbClr val="8D2424"/>
          </a:solidFill>
        </p:spPr>
      </p:sp>
      <p:sp>
        <p:nvSpPr>
          <p:cNvPr id="5" name="Shape 2"/>
          <p:cNvSpPr/>
          <p:nvPr/>
        </p:nvSpPr>
        <p:spPr>
          <a:xfrm>
            <a:off x="882194" y="1788438"/>
            <a:ext cx="472202" cy="22860"/>
          </a:xfrm>
          <a:prstGeom prst="roundRect">
            <a:avLst>
              <a:gd name="adj" fmla="val 289239"/>
            </a:avLst>
          </a:prstGeom>
          <a:solidFill>
            <a:srgbClr val="8D2424"/>
          </a:solidFill>
        </p:spPr>
      </p:sp>
      <p:sp>
        <p:nvSpPr>
          <p:cNvPr id="6" name="Shape 3"/>
          <p:cNvSpPr/>
          <p:nvPr/>
        </p:nvSpPr>
        <p:spPr>
          <a:xfrm>
            <a:off x="550843" y="1622822"/>
            <a:ext cx="354211" cy="35421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647" y="1644551"/>
            <a:ext cx="248483" cy="310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15070" y="1603177"/>
            <a:ext cx="2071330" cy="2589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15070" y="1956554"/>
            <a:ext cx="7078028" cy="5036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machine learning algorithms will continue improving recognition accuracy and processing speed.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82194" y="3117652"/>
            <a:ext cx="472202" cy="22860"/>
          </a:xfrm>
          <a:prstGeom prst="roundRect">
            <a:avLst>
              <a:gd name="adj" fmla="val 289239"/>
            </a:avLst>
          </a:prstGeom>
          <a:solidFill>
            <a:srgbClr val="8D2424"/>
          </a:solidFill>
        </p:spPr>
      </p:sp>
      <p:sp>
        <p:nvSpPr>
          <p:cNvPr id="11" name="Shape 8"/>
          <p:cNvSpPr/>
          <p:nvPr/>
        </p:nvSpPr>
        <p:spPr>
          <a:xfrm>
            <a:off x="550843" y="2952036"/>
            <a:ext cx="354211" cy="35421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647" y="2973765"/>
            <a:ext cx="248483" cy="310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515070" y="2932390"/>
            <a:ext cx="2077760" cy="2589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IoT Connectivity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15070" y="3285768"/>
            <a:ext cx="7078028" cy="5036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 with smart building systems will enable automated environment adjustments based on occupancy.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82194" y="4446865"/>
            <a:ext cx="472202" cy="22860"/>
          </a:xfrm>
          <a:prstGeom prst="roundRect">
            <a:avLst>
              <a:gd name="adj" fmla="val 289239"/>
            </a:avLst>
          </a:prstGeom>
          <a:solidFill>
            <a:srgbClr val="8D2424"/>
          </a:solidFill>
        </p:spPr>
      </p:sp>
      <p:sp>
        <p:nvSpPr>
          <p:cNvPr id="16" name="Shape 13"/>
          <p:cNvSpPr/>
          <p:nvPr/>
        </p:nvSpPr>
        <p:spPr>
          <a:xfrm>
            <a:off x="550843" y="4281249"/>
            <a:ext cx="354211" cy="35421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647" y="4302978"/>
            <a:ext cx="248483" cy="310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515070" y="4261604"/>
            <a:ext cx="2783800" cy="2589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Multimodal Biometrics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15070" y="4614982"/>
            <a:ext cx="7078028" cy="5036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Combining facial recognition with other biometric methods like voice or fingerprint analysis for enhanced security, preventing proxy attendance in educational settings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82194" y="5776079"/>
            <a:ext cx="472202" cy="22860"/>
          </a:xfrm>
          <a:prstGeom prst="roundRect">
            <a:avLst>
              <a:gd name="adj" fmla="val 289239"/>
            </a:avLst>
          </a:prstGeom>
          <a:solidFill>
            <a:srgbClr val="8D2424"/>
          </a:solidFill>
        </p:spPr>
      </p:sp>
      <p:sp>
        <p:nvSpPr>
          <p:cNvPr id="21" name="Shape 18"/>
          <p:cNvSpPr/>
          <p:nvPr/>
        </p:nvSpPr>
        <p:spPr>
          <a:xfrm>
            <a:off x="550843" y="5610463"/>
            <a:ext cx="354211" cy="35421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647" y="5632192"/>
            <a:ext cx="248483" cy="310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515070" y="5590818"/>
            <a:ext cx="2071330" cy="2589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Edge Computing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15070" y="5944195"/>
            <a:ext cx="7078028" cy="5036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Processing facial data locally on devices rather than in the cloud, reducing latency and privacy concerns.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0902" y="6782276"/>
            <a:ext cx="8042196" cy="7554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facial recognition algorithms continue to evolve, we can expect even greater accuracy rates and resistance to spoofing attempts. The technology will likely become more accessible to smaller organizations through cloud-based solutions and subscription models.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ectangles 20"/>
          <p:cNvSpPr/>
          <p:nvPr/>
        </p:nvSpPr>
        <p:spPr>
          <a:xfrm>
            <a:off x="12436475" y="7330440"/>
            <a:ext cx="2186305" cy="8991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Rectangles 1"/>
          <p:cNvSpPr/>
          <p:nvPr/>
        </p:nvSpPr>
        <p:spPr>
          <a:xfrm>
            <a:off x="3331210" y="2237740"/>
            <a:ext cx="8747125" cy="368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A0A09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dist"/>
            <a:r>
              <a:rPr lang="en-US" sz="8800" b="1">
                <a:latin typeface="Franklin Gothic Heavy" panose="020B0903020102020204" charset="0"/>
                <a:cs typeface="Franklin Gothic Heavy" panose="020B0903020102020204" charset="0"/>
              </a:rPr>
              <a:t>THANK YOU</a:t>
            </a:r>
            <a:endParaRPr lang="en-US" sz="8800" b="1"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6468</Words>
  <Application>WPS Slides</Application>
  <PresentationFormat>On-screen Show (16:9)</PresentationFormat>
  <Paragraphs>161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31" baseType="lpstr">
      <vt:lpstr>Arial</vt:lpstr>
      <vt:lpstr>SimSun</vt:lpstr>
      <vt:lpstr>Wingdings</vt:lpstr>
      <vt:lpstr>Dela Gothic One</vt:lpstr>
      <vt:lpstr>Dela Gothic One</vt:lpstr>
      <vt:lpstr>Dela Gothic One</vt:lpstr>
      <vt:lpstr>DM Sans</vt:lpstr>
      <vt:lpstr>DM Sans</vt:lpstr>
      <vt:lpstr>DM Sans</vt:lpstr>
      <vt:lpstr>DM Sans Bold</vt:lpstr>
      <vt:lpstr>Liberation Mono</vt:lpstr>
      <vt:lpstr>DM Sans Bold</vt:lpstr>
      <vt:lpstr>DM Sans Bold</vt:lpstr>
      <vt:lpstr>Calibri</vt:lpstr>
      <vt:lpstr>Microsoft YaHei</vt:lpstr>
      <vt:lpstr>Arial Unicode MS</vt:lpstr>
      <vt:lpstr>MingLiU-ExtB</vt:lpstr>
      <vt:lpstr>Malgun Gothic</vt:lpstr>
      <vt:lpstr>Franklin Gothic Demi</vt:lpstr>
      <vt:lpstr>Franklin Gothic Heavy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MyPC</cp:lastModifiedBy>
  <cp:revision>4</cp:revision>
  <dcterms:created xsi:type="dcterms:W3CDTF">2025-04-26T06:00:00Z</dcterms:created>
  <dcterms:modified xsi:type="dcterms:W3CDTF">2025-04-27T04:48:25Z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1F4A54B0301B4D008B50E1AB215A66E5_12</vt:lpwstr>
  </property>
  <property fmtid="{D5CDD505-2E9C-101B-9397-08002B2CF9AE}" pid="3" name="KSOProductBuildVer">
    <vt:lpwstr>1033-12.2.0.20795</vt:lpwstr>
  </property>
</Properties>
</file>